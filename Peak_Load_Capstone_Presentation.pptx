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1A7C73"/>
    <a:srgbClr val="E8ECF8"/>
    <a:srgbClr val="EF6331"/>
    <a:srgbClr val="223366"/>
    <a:srgbClr val="00717D"/>
    <a:srgbClr val="C9D2ED"/>
    <a:srgbClr val="851910"/>
    <a:srgbClr val="0000FF"/>
    <a:srgbClr val="FFC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D4DEC-48AA-0BF6-AB56-42545404D2D0}" v="11" dt="2026-05-12T04:10:39.549"/>
    <p1510:client id="{2D1FE53B-990F-DA67-03D7-CDF25BC71C0C}" v="3" dt="2026-05-13T05:08:30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1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studio.microsoft.com/environments/Default-ad06ef22-d6dc-4a55-b4c1-c3a158f5f147/bots/cr78b_copilot1tJ7uAB/canva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peak-load-prediction-konxl3lfq6vagaxguvpoqx.streamlit.app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8131F8-7219-F30F-23C3-B1A523F13B4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Peak Load Prediction for Smart Energy Management</a:t>
            </a:r>
          </a:p>
        </p:txBody>
      </p:sp>
      <p:pic>
        <p:nvPicPr>
          <p:cNvPr id="37" name="Picture 36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F50512D5-A288-DE64-5FE5-FAA83B724C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854" b="25110"/>
          <a:stretch/>
        </p:blipFill>
        <p:spPr>
          <a:xfrm>
            <a:off x="3591976" y="-11575"/>
            <a:ext cx="5563599" cy="3851975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ED09A716-F5FD-30AD-BA53-B5110DF9CEEE}"/>
              </a:ext>
            </a:extLst>
          </p:cNvPr>
          <p:cNvGrpSpPr/>
          <p:nvPr/>
        </p:nvGrpSpPr>
        <p:grpSpPr>
          <a:xfrm>
            <a:off x="162379" y="231145"/>
            <a:ext cx="5347819" cy="2630034"/>
            <a:chOff x="-30164" y="-47625"/>
            <a:chExt cx="1548591" cy="76159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A1020B1-E8B3-2D26-3C61-328C79130C0D}"/>
                </a:ext>
              </a:extLst>
            </p:cNvPr>
            <p:cNvSpPr/>
            <p:nvPr/>
          </p:nvSpPr>
          <p:spPr>
            <a:xfrm>
              <a:off x="-30164" y="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2F1C3D6B-7CF9-2BD5-8B36-9878D3FBC36D}"/>
                </a:ext>
              </a:extLst>
            </p:cNvPr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626319" y="1307448"/>
            <a:ext cx="4820890" cy="773873"/>
            <a:chOff x="-117556" y="-72266"/>
            <a:chExt cx="1991689" cy="319716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117556" y="-72266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520DAD-F8CC-E505-163A-1A40C1FCC226}"/>
              </a:ext>
            </a:extLst>
          </p:cNvPr>
          <p:cNvSpPr txBox="1"/>
          <p:nvPr/>
        </p:nvSpPr>
        <p:spPr>
          <a:xfrm>
            <a:off x="1294185" y="2209638"/>
            <a:ext cx="408910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rgbClr val="003399"/>
                </a:solidFill>
              </a:rPr>
              <a:t>Peak Load Prediction</a:t>
            </a:r>
          </a:p>
        </p:txBody>
      </p:sp>
      <p:pic>
        <p:nvPicPr>
          <p:cNvPr id="39" name="Picture 38" descr="A group of people looking at a computer&#10;&#10;Description automatically generated">
            <a:extLst>
              <a:ext uri="{FF2B5EF4-FFF2-40B4-BE49-F238E27FC236}">
                <a16:creationId xmlns:a16="http://schemas.microsoft.com/office/drawing/2014/main" id="{18A248EA-6D70-BC00-C66F-B374210692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2443" r="30604" b="14243"/>
          <a:stretch/>
        </p:blipFill>
        <p:spPr>
          <a:xfrm>
            <a:off x="-8839" y="3956265"/>
            <a:ext cx="3569383" cy="1199146"/>
          </a:xfrm>
          <a:prstGeom prst="rect">
            <a:avLst/>
          </a:prstGeom>
        </p:spPr>
      </p:pic>
      <p:sp>
        <p:nvSpPr>
          <p:cNvPr id="40" name="Google Shape;70;p13">
            <a:extLst>
              <a:ext uri="{FF2B5EF4-FFF2-40B4-BE49-F238E27FC236}">
                <a16:creationId xmlns:a16="http://schemas.microsoft.com/office/drawing/2014/main" id="{574F20A4-E865-2423-673E-2D8E75BC50D9}"/>
              </a:ext>
            </a:extLst>
          </p:cNvPr>
          <p:cNvSpPr txBox="1"/>
          <p:nvPr/>
        </p:nvSpPr>
        <p:spPr>
          <a:xfrm>
            <a:off x="3703173" y="4157917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58D58-B26B-B263-E4E7-719E9EA907D6}"/>
              </a:ext>
            </a:extLst>
          </p:cNvPr>
          <p:cNvSpPr txBox="1"/>
          <p:nvPr/>
        </p:nvSpPr>
        <p:spPr>
          <a:xfrm>
            <a:off x="3705805" y="4448284"/>
            <a:ext cx="2168784" cy="8463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1100" dirty="0">
                <a:solidFill>
                  <a:schemeClr val="bg1"/>
                </a:solidFill>
              </a:rPr>
              <a:t>Mohammad Danish Dar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1100" dirty="0">
                <a:solidFill>
                  <a:schemeClr val="bg1"/>
                </a:solidFill>
              </a:rPr>
              <a:t>Tahira Mohammad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fi-FI" sz="1100" dirty="0">
                <a:solidFill>
                  <a:schemeClr val="bg1"/>
                </a:solidFill>
              </a:rPr>
              <a:t>Fatima Banoo</a:t>
            </a:r>
            <a:endParaRPr lang="en-US" dirty="0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endParaRPr lang="fi-FI" sz="1100" dirty="0">
              <a:solidFill>
                <a:schemeClr val="bg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A9C646-678B-4CA4-AAF5-5A0CA4DB2AC5}"/>
              </a:ext>
            </a:extLst>
          </p:cNvPr>
          <p:cNvCxnSpPr>
            <a:cxnSpLocks/>
          </p:cNvCxnSpPr>
          <p:nvPr/>
        </p:nvCxnSpPr>
        <p:spPr>
          <a:xfrm>
            <a:off x="3799761" y="4434876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0;p13">
            <a:extLst>
              <a:ext uri="{FF2B5EF4-FFF2-40B4-BE49-F238E27FC236}">
                <a16:creationId xmlns:a16="http://schemas.microsoft.com/office/drawing/2014/main" id="{43C0C02E-B24A-392F-8483-77C0267C88E1}"/>
              </a:ext>
            </a:extLst>
          </p:cNvPr>
          <p:cNvSpPr txBox="1"/>
          <p:nvPr/>
        </p:nvSpPr>
        <p:spPr>
          <a:xfrm>
            <a:off x="6607160" y="4171325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Guided by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6B4A00-040F-FDB6-2131-846EB7188C53}"/>
              </a:ext>
            </a:extLst>
          </p:cNvPr>
          <p:cNvSpPr txBox="1"/>
          <p:nvPr/>
        </p:nvSpPr>
        <p:spPr>
          <a:xfrm>
            <a:off x="6609792" y="4461692"/>
            <a:ext cx="2168784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Mohammad Umar </a:t>
            </a:r>
            <a:r>
              <a:rPr lang="en-US" sz="1100" dirty="0" err="1">
                <a:solidFill>
                  <a:schemeClr val="bg1"/>
                </a:solidFill>
              </a:rPr>
              <a:t>Choppan</a:t>
            </a:r>
            <a:endParaRPr lang="fi-FI" sz="1100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C930180-14D0-979F-80DC-202E3B74AD60}"/>
              </a:ext>
            </a:extLst>
          </p:cNvPr>
          <p:cNvCxnSpPr>
            <a:cxnSpLocks/>
          </p:cNvCxnSpPr>
          <p:nvPr/>
        </p:nvCxnSpPr>
        <p:spPr>
          <a:xfrm>
            <a:off x="6703748" y="4448284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1326140" y="1215495"/>
            <a:ext cx="3608846" cy="660460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25576" y="675518"/>
            <a:ext cx="4428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510F8-EE68-4DB7-5481-38EDBC28EBB2}"/>
              </a:ext>
            </a:extLst>
          </p:cNvPr>
          <p:cNvSpPr txBox="1"/>
          <p:nvPr/>
        </p:nvSpPr>
        <p:spPr>
          <a:xfrm>
            <a:off x="134414" y="1133132"/>
            <a:ext cx="4413733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• Electricity demand changes throughout the day.</a:t>
            </a:r>
          </a:p>
          <a:p>
            <a:r>
              <a:rPr dirty="0"/>
              <a:t>• Unexpected peak loads can cause power shortages</a:t>
            </a:r>
            <a:endParaRPr lang="en-IN" dirty="0"/>
          </a:p>
          <a:p>
            <a:r>
              <a:rPr lang="en-IN" dirty="0"/>
              <a:t>   </a:t>
            </a:r>
            <a:r>
              <a:rPr dirty="0"/>
              <a:t>and higher costs.</a:t>
            </a:r>
          </a:p>
          <a:p>
            <a:r>
              <a:rPr dirty="0"/>
              <a:t>• Manual analysis of large energy datasets is difficult.</a:t>
            </a:r>
          </a:p>
          <a:p>
            <a:r>
              <a:rPr dirty="0"/>
              <a:t>• Utilities need accurate peak demand prediction for</a:t>
            </a:r>
            <a:endParaRPr lang="en-IN" dirty="0"/>
          </a:p>
          <a:p>
            <a:r>
              <a:rPr lang="en-IN" dirty="0"/>
              <a:t> </a:t>
            </a:r>
            <a:r>
              <a:rPr dirty="0"/>
              <a:t> better planning.</a:t>
            </a:r>
          </a:p>
        </p:txBody>
      </p:sp>
      <p:pic>
        <p:nvPicPr>
          <p:cNvPr id="7" name="Picture 6" descr="A cartoon of a person holding a book&#10;&#10;Description automatically generated">
            <a:extLst>
              <a:ext uri="{FF2B5EF4-FFF2-40B4-BE49-F238E27FC236}">
                <a16:creationId xmlns:a16="http://schemas.microsoft.com/office/drawing/2014/main" id="{27276879-51B0-342E-6B09-4EA7C9230A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075"/>
          <a:stretch/>
        </p:blipFill>
        <p:spPr>
          <a:xfrm>
            <a:off x="5112433" y="1147011"/>
            <a:ext cx="2351445" cy="3521243"/>
          </a:xfrm>
          <a:prstGeom prst="rect">
            <a:avLst/>
          </a:prstGeom>
        </p:spPr>
      </p:pic>
      <p:pic>
        <p:nvPicPr>
          <p:cNvPr id="8" name="Picture 7" descr="A blue question mark on a black background&#10;&#10;Description automatically generated">
            <a:extLst>
              <a:ext uri="{FF2B5EF4-FFF2-40B4-BE49-F238E27FC236}">
                <a16:creationId xmlns:a16="http://schemas.microsoft.com/office/drawing/2014/main" id="{AEF795B9-59D0-E5F1-B10D-DC58713F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258" y="2627897"/>
            <a:ext cx="2260934" cy="226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250069" y="667355"/>
            <a:ext cx="4428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002060"/>
                </a:solidFill>
              </a:rPr>
              <a:t>Proposed Solution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00F2964-0D4F-F880-A09E-E7A62DA0D8AD}"/>
              </a:ext>
            </a:extLst>
          </p:cNvPr>
          <p:cNvGrpSpPr/>
          <p:nvPr/>
        </p:nvGrpSpPr>
        <p:grpSpPr>
          <a:xfrm>
            <a:off x="4957011" y="1136519"/>
            <a:ext cx="4296704" cy="3560273"/>
            <a:chOff x="4957011" y="1136519"/>
            <a:chExt cx="4296704" cy="356027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BDDE1E-3117-B64C-BB4F-1DE4EAC4051A}"/>
                </a:ext>
              </a:extLst>
            </p:cNvPr>
            <p:cNvGrpSpPr/>
            <p:nvPr/>
          </p:nvGrpSpPr>
          <p:grpSpPr>
            <a:xfrm>
              <a:off x="5693442" y="1136519"/>
              <a:ext cx="3560273" cy="3560273"/>
              <a:chOff x="4955715" y="1142768"/>
              <a:chExt cx="3560273" cy="3560273"/>
            </a:xfrm>
          </p:grpSpPr>
          <p:pic>
            <p:nvPicPr>
              <p:cNvPr id="15" name="Graphic 2" descr="Building with solid fill">
                <a:extLst>
                  <a:ext uri="{FF2B5EF4-FFF2-40B4-BE49-F238E27FC236}">
                    <a16:creationId xmlns:a16="http://schemas.microsoft.com/office/drawing/2014/main" id="{EB410575-724F-E860-628D-9E31E8990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955715" y="1142768"/>
                <a:ext cx="3560273" cy="3560273"/>
              </a:xfrm>
              <a:prstGeom prst="rect">
                <a:avLst/>
              </a:prstGeom>
            </p:spPr>
          </p:pic>
          <p:pic>
            <p:nvPicPr>
              <p:cNvPr id="16" name="Picture 15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FA96A03D-8AC6-DF53-33DC-7FEC5CC495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2037" y="400073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7" name="Picture 16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0C87976D-9ED4-94B4-E12D-0E8164899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4975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8" name="Picture 17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162C682B-F14F-E745-A95B-324697E9C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6171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9" name="Picture 18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B8208A31-28D7-AFA6-DB42-EB7415CD5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9659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0" name="Picture 19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921D4573-E89C-F978-B60F-75ABAB71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7588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1" name="Picture 20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id="{DD649A93-C91B-E486-EA5E-C080F29D6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9213" y="3992712"/>
                <a:ext cx="463488" cy="463488"/>
              </a:xfrm>
              <a:prstGeom prst="rect">
                <a:avLst/>
              </a:prstGeom>
            </p:spPr>
          </p:pic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0C6BA6-5F2D-8F9B-162A-E34B8A491099}"/>
                </a:ext>
              </a:extLst>
            </p:cNvPr>
            <p:cNvSpPr/>
            <p:nvPr/>
          </p:nvSpPr>
          <p:spPr>
            <a:xfrm>
              <a:off x="4957011" y="1389708"/>
              <a:ext cx="2274970" cy="22749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oogle Shape;134;p23">
              <a:extLst>
                <a:ext uri="{FF2B5EF4-FFF2-40B4-BE49-F238E27FC236}">
                  <a16:creationId xmlns:a16="http://schemas.microsoft.com/office/drawing/2014/main" id="{3382BCA9-3D11-62CB-321B-240BFBF0E00A}"/>
                </a:ext>
              </a:extLst>
            </p:cNvPr>
            <p:cNvSpPr txBox="1"/>
            <p:nvPr/>
          </p:nvSpPr>
          <p:spPr>
            <a:xfrm>
              <a:off x="5156936" y="1429477"/>
              <a:ext cx="1875120" cy="219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</a:p>
          </p:txBody>
        </p:sp>
        <p:sp>
          <p:nvSpPr>
            <p:cNvPr id="24" name="Google Shape;134;p23">
              <a:extLst>
                <a:ext uri="{FF2B5EF4-FFF2-40B4-BE49-F238E27FC236}">
                  <a16:creationId xmlns:a16="http://schemas.microsoft.com/office/drawing/2014/main" id="{31ADB365-F098-90BE-1170-C0F8C08A2CF1}"/>
                </a:ext>
              </a:extLst>
            </p:cNvPr>
            <p:cNvSpPr txBox="1"/>
            <p:nvPr/>
          </p:nvSpPr>
          <p:spPr>
            <a:xfrm>
              <a:off x="6997972" y="1375380"/>
              <a:ext cx="974956" cy="410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SCHOOL</a:t>
              </a:r>
            </a:p>
          </p:txBody>
        </p:sp>
      </p:grp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131949" y="1142768"/>
            <a:ext cx="4440051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dirty="0"/>
              <a:t>• Analyze historical electricity consumption data.</a:t>
            </a:r>
          </a:p>
          <a:p>
            <a:r>
              <a:rPr dirty="0"/>
              <a:t>• Use weather and time-based factors such as</a:t>
            </a:r>
            <a:endParaRPr lang="en-IN" dirty="0"/>
          </a:p>
          <a:p>
            <a:r>
              <a:rPr lang="en-IN" dirty="0"/>
              <a:t> </a:t>
            </a:r>
            <a:r>
              <a:rPr dirty="0"/>
              <a:t> Temperature, Humidity, Wind Speed and Holidays.</a:t>
            </a:r>
          </a:p>
          <a:p>
            <a:r>
              <a:rPr dirty="0"/>
              <a:t>• Train a Machine Learning model (Random Forest</a:t>
            </a:r>
            <a:endParaRPr lang="en-IN" dirty="0"/>
          </a:p>
          <a:p>
            <a:r>
              <a:rPr lang="en-IN" dirty="0"/>
              <a:t>  </a:t>
            </a:r>
            <a:r>
              <a:rPr dirty="0"/>
              <a:t>Regressor).</a:t>
            </a:r>
          </a:p>
          <a:p>
            <a:r>
              <a:rPr dirty="0"/>
              <a:t>• Predict future peak load hours for efficient energy</a:t>
            </a:r>
            <a:endParaRPr lang="en-IN" dirty="0"/>
          </a:p>
          <a:p>
            <a:r>
              <a:rPr lang="en-IN" dirty="0"/>
              <a:t> </a:t>
            </a:r>
            <a:r>
              <a:rPr dirty="0"/>
              <a:t> management.</a:t>
            </a:r>
          </a:p>
        </p:txBody>
      </p:sp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311700" y="702724"/>
            <a:ext cx="8520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dirty="0">
                <a:solidFill>
                  <a:srgbClr val="002060"/>
                </a:solidFill>
              </a:rPr>
              <a:t>Project Demo / Workflow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EF4296-6D6A-2195-AEDC-5739E9527820}"/>
              </a:ext>
            </a:extLst>
          </p:cNvPr>
          <p:cNvGrpSpPr/>
          <p:nvPr/>
        </p:nvGrpSpPr>
        <p:grpSpPr>
          <a:xfrm>
            <a:off x="1799924" y="1352550"/>
            <a:ext cx="5422232" cy="3199772"/>
            <a:chOff x="1159110" y="1292018"/>
            <a:chExt cx="5422232" cy="319977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8EF506-DE96-236C-46F0-224868672ADF}"/>
                </a:ext>
              </a:extLst>
            </p:cNvPr>
            <p:cNvSpPr/>
            <p:nvPr/>
          </p:nvSpPr>
          <p:spPr>
            <a:xfrm>
              <a:off x="3217787" y="1292018"/>
              <a:ext cx="2826661" cy="28266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hlinkClick r:id="rId3"/>
              <a:extLst>
                <a:ext uri="{FF2B5EF4-FFF2-40B4-BE49-F238E27FC236}">
                  <a16:creationId xmlns:a16="http://schemas.microsoft.com/office/drawing/2014/main" id="{DED40980-3081-6659-4392-177BDDF9F096}"/>
                </a:ext>
              </a:extLst>
            </p:cNvPr>
            <p:cNvSpPr/>
            <p:nvPr/>
          </p:nvSpPr>
          <p:spPr>
            <a:xfrm>
              <a:off x="1159110" y="2630906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0A5BB1-3E0C-AD1B-4F66-76DA03418642}"/>
                </a:ext>
              </a:extLst>
            </p:cNvPr>
            <p:cNvSpPr txBox="1"/>
            <p:nvPr/>
          </p:nvSpPr>
          <p:spPr>
            <a:xfrm>
              <a:off x="1691508" y="3007350"/>
              <a:ext cx="435743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Website link </a:t>
              </a:r>
              <a:endParaRPr lang="en-US" sz="3000" b="1">
                <a:solidFill>
                  <a:schemeClr val="bg1"/>
                </a:solidFill>
              </a:endParaRPr>
            </a:p>
          </p:txBody>
        </p: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18516467-7CBC-2FFE-993C-F7C080FA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004" y="3716807"/>
              <a:ext cx="434844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IN" sz="1600" dirty="0">
                  <a:solidFill>
                    <a:srgbClr val="0097A7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Peak Load Prediction Dashboard · </a:t>
              </a:r>
              <a:r>
                <a:rPr lang="en-IN" sz="1600" dirty="0" err="1">
                  <a:solidFill>
                    <a:schemeClr val="tx1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Streamlit</a:t>
              </a:r>
              <a:endParaRPr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058CC0-CC04-8036-24AE-51461F3C17DF}"/>
              </a:ext>
            </a:extLst>
          </p:cNvPr>
          <p:cNvGrpSpPr/>
          <p:nvPr/>
        </p:nvGrpSpPr>
        <p:grpSpPr>
          <a:xfrm>
            <a:off x="4393138" y="1229664"/>
            <a:ext cx="1757585" cy="1815552"/>
            <a:chOff x="686159" y="633457"/>
            <a:chExt cx="2849880" cy="29438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01590A-7F69-1C2D-2A3C-3BD68F2C27B2}"/>
                </a:ext>
              </a:extLst>
            </p:cNvPr>
            <p:cNvSpPr/>
            <p:nvPr/>
          </p:nvSpPr>
          <p:spPr>
            <a:xfrm>
              <a:off x="790438" y="1492457"/>
              <a:ext cx="2613660" cy="1493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person on a computer screen&#10;&#10;Description automatically generated">
              <a:extLst>
                <a:ext uri="{FF2B5EF4-FFF2-40B4-BE49-F238E27FC236}">
                  <a16:creationId xmlns:a16="http://schemas.microsoft.com/office/drawing/2014/main" id="{AEFB9C29-B9A9-F09E-AF9C-106FEC826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439" r="18038"/>
            <a:stretch/>
          </p:blipFill>
          <p:spPr>
            <a:xfrm>
              <a:off x="686159" y="633457"/>
              <a:ext cx="2849880" cy="29438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people standing on a arrow&#10;&#10;Description automatically generated">
            <a:extLst>
              <a:ext uri="{FF2B5EF4-FFF2-40B4-BE49-F238E27FC236}">
                <a16:creationId xmlns:a16="http://schemas.microsoft.com/office/drawing/2014/main" id="{3AF0A26D-CA08-4444-AD3E-FF6B88FF9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88180" y="1021274"/>
            <a:ext cx="4655820" cy="3100952"/>
          </a:xfrm>
          <a:prstGeom prst="rect">
            <a:avLst/>
          </a:prstGeom>
        </p:spPr>
      </p:pic>
      <p:sp>
        <p:nvSpPr>
          <p:cNvPr id="4" name="Google Shape;127;p22">
            <a:extLst>
              <a:ext uri="{FF2B5EF4-FFF2-40B4-BE49-F238E27FC236}">
                <a16:creationId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227880" y="652791"/>
            <a:ext cx="8520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dirty="0">
                <a:solidFill>
                  <a:srgbClr val="002060"/>
                </a:solidFill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131949" y="1142768"/>
            <a:ext cx="4440051" cy="115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• Real-time electricity demand forecasting.</a:t>
            </a:r>
          </a:p>
          <a:p>
            <a:r>
              <a:t>• Integration with smart grids and IoT devices.</a:t>
            </a:r>
          </a:p>
          <a:p>
            <a:r>
              <a:t>• Advanced Deep Learning models.</a:t>
            </a:r>
          </a:p>
          <a:p>
            <a:r>
              <a:t>• Renewable energy demand optimization.</a:t>
            </a:r>
          </a:p>
          <a:p>
            <a:r>
              <a:t>• Mobile and web-based monitoring dashboards.</a:t>
            </a:r>
          </a:p>
        </p:txBody>
      </p:sp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221410" y="630150"/>
            <a:ext cx="85206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131949" y="1142768"/>
            <a:ext cx="4440051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dirty="0"/>
              <a:t>• Successfully analyzed electricity consumption</a:t>
            </a:r>
            <a:endParaRPr lang="en-IN" dirty="0"/>
          </a:p>
          <a:p>
            <a:r>
              <a:rPr lang="en-IN" dirty="0"/>
              <a:t> </a:t>
            </a:r>
            <a:r>
              <a:rPr dirty="0"/>
              <a:t> patterns.</a:t>
            </a:r>
          </a:p>
          <a:p>
            <a:r>
              <a:rPr dirty="0"/>
              <a:t>• Developed a Machine Learning model for peak load</a:t>
            </a:r>
            <a:endParaRPr lang="en-IN" dirty="0"/>
          </a:p>
          <a:p>
            <a:r>
              <a:rPr lang="en-IN" dirty="0"/>
              <a:t> </a:t>
            </a:r>
            <a:r>
              <a:rPr dirty="0"/>
              <a:t> prediction.</a:t>
            </a:r>
          </a:p>
          <a:p>
            <a:r>
              <a:rPr dirty="0"/>
              <a:t>• Improved planning and load management decisions.</a:t>
            </a:r>
          </a:p>
          <a:p>
            <a:r>
              <a:rPr dirty="0"/>
              <a:t>• Supports efficient energy utilization and future smart</a:t>
            </a:r>
            <a:endParaRPr lang="en-IN" dirty="0"/>
          </a:p>
          <a:p>
            <a:r>
              <a:rPr lang="en-IN" dirty="0"/>
              <a:t> </a:t>
            </a:r>
            <a:r>
              <a:rPr dirty="0"/>
              <a:t> grid applications.</a:t>
            </a:r>
          </a:p>
        </p:txBody>
      </p:sp>
      <p:pic>
        <p:nvPicPr>
          <p:cNvPr id="9" name="Picture 8" descr="A person standing next to a clipboard with a checklist&#10;&#10;Description automatically generated">
            <a:extLst>
              <a:ext uri="{FF2B5EF4-FFF2-40B4-BE49-F238E27FC236}">
                <a16:creationId xmlns:a16="http://schemas.microsoft.com/office/drawing/2014/main" id="{E9417E3B-DDB5-FAE5-89DC-EBB8DF9142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2" r="12574"/>
          <a:stretch/>
        </p:blipFill>
        <p:spPr>
          <a:xfrm>
            <a:off x="5205663" y="1100827"/>
            <a:ext cx="3930314" cy="374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hank you card&#10;&#10;Description automatically generated">
            <a:extLst>
              <a:ext uri="{FF2B5EF4-FFF2-40B4-BE49-F238E27FC236}">
                <a16:creationId xmlns:a16="http://schemas.microsoft.com/office/drawing/2014/main" id="{A93903B1-E7A1-B168-DEC2-0635A4163F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10" t="21904" r="9339"/>
          <a:stretch/>
        </p:blipFill>
        <p:spPr>
          <a:xfrm>
            <a:off x="1869484" y="1466831"/>
            <a:ext cx="5647194" cy="30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215</Words>
  <Application>Microsoft Office PowerPoint</Application>
  <PresentationFormat>On-screen Show (16:9)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Mohammad Danish Dar</cp:lastModifiedBy>
  <cp:revision>7</cp:revision>
  <dcterms:modified xsi:type="dcterms:W3CDTF">2026-06-05T05:59:21Z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